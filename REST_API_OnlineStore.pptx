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5" r:id="rId1"/>
  </p:sldMasterIdLst>
  <p:notesMasterIdLst>
    <p:notesMasterId r:id="rId14"/>
  </p:notesMasterIdLst>
  <p:sldIdLst>
    <p:sldId id="256" r:id="rId2"/>
    <p:sldId id="267" r:id="rId3"/>
    <p:sldId id="257" r:id="rId4"/>
    <p:sldId id="258" r:id="rId5"/>
    <p:sldId id="261" r:id="rId6"/>
    <p:sldId id="260" r:id="rId7"/>
    <p:sldId id="259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00329F4-4CA9-46BA-9A3A-02D71A03F3F5}" v="64" dt="2025-11-05T13:30:16.0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33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40590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56F3DA-05A9-4E17-89E8-DC74C5DB9A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10D00F-759F-E8C9-1E38-0D2A0B416F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3E9144-2A40-73F0-7568-9A4C5E72B5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8B0C3D-CEE7-4A8B-FDE8-98068E2A8F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45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76B3C-594C-4C39-AE03-15328BCFF587}" type="datetime1">
              <a:rPr lang="ru-RU" smtClean="0"/>
              <a:pPr/>
              <a:t>12.11.2025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4395663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76B3C-594C-4C39-AE03-15328BCFF587}" type="datetime1">
              <a:rPr lang="ru-RU" smtClean="0"/>
              <a:pPr/>
              <a:t>12.11.2025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CBD12358-51D2-46B3-9BDE-DF29528B945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1613064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76B3C-594C-4C39-AE03-15328BCFF587}" type="datetime1">
              <a:rPr lang="ru-RU" smtClean="0"/>
              <a:pPr/>
              <a:t>12.11.2025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03942305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76B3C-594C-4C39-AE03-15328BCFF587}" type="datetime1">
              <a:rPr lang="ru-RU" smtClean="0"/>
              <a:pPr/>
              <a:t>12.11.2025</a:t>
            </a:fld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87232133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76B3C-594C-4C39-AE03-15328BCFF587}" type="datetime1">
              <a:rPr lang="ru-RU" smtClean="0"/>
              <a:pPr/>
              <a:t>12.11.2025</a:t>
            </a:fld>
            <a:endParaRPr lang="ru-R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69093405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76B3C-594C-4C39-AE03-15328BCFF587}" type="datetime1">
              <a:rPr lang="ru-RU" smtClean="0"/>
              <a:pPr/>
              <a:t>12.11.2025</a:t>
            </a:fld>
            <a:endParaRPr lang="ru-R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33647102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76B3C-594C-4C39-AE03-15328BCFF587}" type="datetime1">
              <a:rPr lang="ru-RU" smtClean="0"/>
              <a:pPr/>
              <a:t>12.11.2025</a:t>
            </a:fld>
            <a:endParaRPr lang="ru-R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03588702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76B3C-594C-4C39-AE03-15328BCFF587}" type="datetime1">
              <a:rPr lang="ru-RU" smtClean="0"/>
              <a:pPr/>
              <a:t>12.11.2025</a:t>
            </a:fld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75971936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76B3C-594C-4C39-AE03-15328BCFF587}" type="datetime1">
              <a:rPr lang="ru-RU" smtClean="0"/>
              <a:pPr/>
              <a:t>12.11.2025</a:t>
            </a:fld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1403802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76B3C-594C-4C39-AE03-15328BCFF587}" type="datetime1">
              <a:rPr lang="ru-RU" smtClean="0"/>
              <a:pPr/>
              <a:t>12.11.2025</a:t>
            </a:fld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8673064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76B3C-594C-4C39-AE03-15328BCFF587}" type="datetime1">
              <a:rPr lang="ru-RU" smtClean="0"/>
              <a:pPr/>
              <a:t>12.11.2025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98942426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76B3C-594C-4C39-AE03-15328BCFF587}" type="datetime1">
              <a:rPr lang="ru-RU" smtClean="0"/>
              <a:pPr/>
              <a:t>12.11.2025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52124638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76B3C-594C-4C39-AE03-15328BCFF587}" type="datetime1">
              <a:rPr lang="ru-RU" smtClean="0"/>
              <a:pPr/>
              <a:t>12.11.2025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82831432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76B3C-594C-4C39-AE03-15328BCFF587}" type="datetime1">
              <a:rPr lang="ru-RU" smtClean="0"/>
              <a:pPr/>
              <a:t>12.11.2025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11537739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76B3C-594C-4C39-AE03-15328BCFF587}" type="datetime1">
              <a:rPr lang="ru-RU" smtClean="0"/>
              <a:pPr/>
              <a:t>12.11.2025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38915625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76B3C-594C-4C39-AE03-15328BCFF587}" type="datetime1">
              <a:rPr lang="ru-RU" smtClean="0"/>
              <a:pPr/>
              <a:t>12.11.2025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70036974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76B3C-594C-4C39-AE03-15328BCFF587}" type="datetime1">
              <a:rPr lang="ru-RU" smtClean="0"/>
              <a:pPr/>
              <a:t>12.11.2025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61383313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05853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EB376B3C-594C-4C39-AE03-15328BCFF587}" type="datetime1">
              <a:rPr lang="ru-RU" smtClean="0"/>
              <a:pPr/>
              <a:t>12.11.2025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BD12358-51D2-46B3-9BDE-DF29528B945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82746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  <p:sldLayoutId id="2147483677" r:id="rId12"/>
    <p:sldLayoutId id="2147483678" r:id="rId13"/>
    <p:sldLayoutId id="2147483679" r:id="rId14"/>
    <p:sldLayoutId id="2147483680" r:id="rId15"/>
    <p:sldLayoutId id="2147483681" r:id="rId16"/>
    <p:sldLayoutId id="2147483682" r:id="rId17"/>
    <p:sldLayoutId id="2147483683" r:id="rId18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1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3779037" y="3648901"/>
            <a:ext cx="5428549" cy="4322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ru-RU" sz="1400" dirty="0">
                <a:solidFill>
                  <a:srgbClr val="000000"/>
                </a:solidFill>
              </a:rPr>
              <a:t>Автор: </a:t>
            </a:r>
            <a:r>
              <a:rPr lang="ru-RU" sz="1400" i="1" dirty="0">
                <a:solidFill>
                  <a:srgbClr val="000000"/>
                </a:solidFill>
              </a:rPr>
              <a:t>Горохов Семён</a:t>
            </a:r>
            <a:endParaRPr lang="en-US" sz="1400" i="1" dirty="0"/>
          </a:p>
        </p:txBody>
      </p:sp>
      <p:sp>
        <p:nvSpPr>
          <p:cNvPr id="5" name="Text 1"/>
          <p:cNvSpPr/>
          <p:nvPr/>
        </p:nvSpPr>
        <p:spPr>
          <a:xfrm>
            <a:off x="3779037" y="2719764"/>
            <a:ext cx="5428549" cy="581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ru-RU" sz="2200" b="1" dirty="0">
                <a:solidFill>
                  <a:srgbClr val="000000"/>
                </a:solidFill>
              </a:rPr>
              <a:t>Архитектура </a:t>
            </a:r>
            <a:r>
              <a:rPr lang="en-US" sz="2200" b="1" dirty="0">
                <a:solidFill>
                  <a:srgbClr val="000000"/>
                </a:solidFill>
              </a:rPr>
              <a:t>REST API</a:t>
            </a:r>
            <a:r>
              <a:rPr lang="ru-RU" sz="2200" b="1" dirty="0">
                <a:solidFill>
                  <a:srgbClr val="000000"/>
                </a:solidFill>
              </a:rPr>
              <a:t> онлайн магазина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55815-EA01-DB2E-1FDA-5D4EE872C9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2DD525C5-C0CD-3DE0-FB42-6E0B5F8D5324}"/>
              </a:ext>
            </a:extLst>
          </p:cNvPr>
          <p:cNvSpPr/>
          <p:nvPr/>
        </p:nvSpPr>
        <p:spPr>
          <a:xfrm>
            <a:off x="3416512" y="1459147"/>
            <a:ext cx="5037403" cy="135093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000"/>
              </a:lnSpc>
            </a:pPr>
            <a:r>
              <a:rPr lang="en-US" sz="1400" b="1" dirty="0" err="1">
                <a:solidFill>
                  <a:srgbClr val="000000"/>
                </a:solidFill>
              </a:rPr>
              <a:t>Цели</a:t>
            </a:r>
            <a:r>
              <a:rPr lang="en-US" sz="1400" b="1" dirty="0">
                <a:solidFill>
                  <a:srgbClr val="000000"/>
                </a:solidFill>
              </a:rPr>
              <a:t> </a:t>
            </a:r>
            <a:r>
              <a:rPr lang="en-US" sz="1400" b="1" dirty="0" err="1">
                <a:solidFill>
                  <a:srgbClr val="000000"/>
                </a:solidFill>
              </a:rPr>
              <a:t>проекта</a:t>
            </a:r>
            <a:r>
              <a:rPr lang="en-US" sz="1400" b="1" dirty="0">
                <a:solidFill>
                  <a:srgbClr val="000000"/>
                </a:solidFill>
              </a:rPr>
              <a:t>: </a:t>
            </a:r>
            <a:r>
              <a:rPr lang="en-US" sz="1400" dirty="0" err="1">
                <a:solidFill>
                  <a:srgbClr val="000000"/>
                </a:solidFill>
              </a:rPr>
              <a:t>высокая</a:t>
            </a:r>
            <a:r>
              <a:rPr lang="en-US" sz="1400" dirty="0">
                <a:solidFill>
                  <a:srgbClr val="000000"/>
                </a:solidFill>
              </a:rPr>
              <a:t> </a:t>
            </a:r>
            <a:r>
              <a:rPr lang="en-US" sz="1400" dirty="0" err="1">
                <a:solidFill>
                  <a:srgbClr val="000000"/>
                </a:solidFill>
              </a:rPr>
              <a:t>производительность</a:t>
            </a:r>
            <a:r>
              <a:rPr lang="en-US" sz="1400" dirty="0">
                <a:solidFill>
                  <a:srgbClr val="000000"/>
                </a:solidFill>
              </a:rPr>
              <a:t> и </a:t>
            </a:r>
            <a:r>
              <a:rPr lang="en-US" sz="1400" dirty="0" err="1">
                <a:solidFill>
                  <a:srgbClr val="000000"/>
                </a:solidFill>
              </a:rPr>
              <a:t>отзывчивость</a:t>
            </a:r>
            <a:r>
              <a:rPr lang="en-US" sz="1400" dirty="0">
                <a:solidFill>
                  <a:srgbClr val="000000"/>
                </a:solidFill>
              </a:rPr>
              <a:t>, </a:t>
            </a:r>
            <a:endParaRPr lang="ru-RU" sz="1400" dirty="0">
              <a:solidFill>
                <a:srgbClr val="000000"/>
              </a:solidFill>
            </a:endParaRPr>
          </a:p>
          <a:p>
            <a:pPr>
              <a:lnSpc>
                <a:spcPts val="2000"/>
              </a:lnSpc>
            </a:pPr>
            <a:r>
              <a:rPr lang="en-US" sz="1400" dirty="0" err="1">
                <a:solidFill>
                  <a:srgbClr val="000000"/>
                </a:solidFill>
              </a:rPr>
              <a:t>горизонтальная</a:t>
            </a:r>
            <a:r>
              <a:rPr lang="en-US" sz="1400" dirty="0">
                <a:solidFill>
                  <a:srgbClr val="000000"/>
                </a:solidFill>
              </a:rPr>
              <a:t> </a:t>
            </a:r>
            <a:r>
              <a:rPr lang="en-US" sz="1400" dirty="0" err="1">
                <a:solidFill>
                  <a:srgbClr val="000000"/>
                </a:solidFill>
              </a:rPr>
              <a:t>масштабируемость</a:t>
            </a:r>
            <a:r>
              <a:rPr lang="en-US" sz="1400" dirty="0">
                <a:solidFill>
                  <a:srgbClr val="000000"/>
                </a:solidFill>
              </a:rPr>
              <a:t>, </a:t>
            </a:r>
            <a:r>
              <a:rPr lang="en-US" sz="1400" dirty="0" err="1">
                <a:solidFill>
                  <a:srgbClr val="000000"/>
                </a:solidFill>
              </a:rPr>
              <a:t>чистая</a:t>
            </a:r>
            <a:r>
              <a:rPr lang="en-US" sz="1400" dirty="0">
                <a:solidFill>
                  <a:srgbClr val="000000"/>
                </a:solidFill>
              </a:rPr>
              <a:t> </a:t>
            </a:r>
            <a:r>
              <a:rPr lang="en-US" sz="1400" dirty="0" err="1">
                <a:solidFill>
                  <a:srgbClr val="000000"/>
                </a:solidFill>
              </a:rPr>
              <a:t>архитектура</a:t>
            </a:r>
            <a:r>
              <a:rPr lang="ru-RU" sz="1400" dirty="0">
                <a:solidFill>
                  <a:srgbClr val="000000"/>
                </a:solidFill>
              </a:rPr>
              <a:t>,</a:t>
            </a:r>
          </a:p>
          <a:p>
            <a:pPr>
              <a:lnSpc>
                <a:spcPts val="2000"/>
              </a:lnSpc>
            </a:pPr>
            <a:r>
              <a:rPr lang="en-US" sz="1400" dirty="0" err="1">
                <a:solidFill>
                  <a:srgbClr val="000000"/>
                </a:solidFill>
              </a:rPr>
              <a:t>полная</a:t>
            </a:r>
            <a:r>
              <a:rPr lang="en-US" sz="1400" dirty="0">
                <a:solidFill>
                  <a:srgbClr val="000000"/>
                </a:solidFill>
              </a:rPr>
              <a:t> RESTful </a:t>
            </a:r>
            <a:r>
              <a:rPr lang="en-US" sz="1400" dirty="0" err="1">
                <a:solidFill>
                  <a:srgbClr val="000000"/>
                </a:solidFill>
              </a:rPr>
              <a:t>спецификация</a:t>
            </a:r>
            <a:r>
              <a:rPr lang="en-US" sz="1400" dirty="0">
                <a:solidFill>
                  <a:srgbClr val="000000"/>
                </a:solidFill>
              </a:rPr>
              <a:t>.</a:t>
            </a:r>
            <a:endParaRPr lang="en-US" sz="1400" dirty="0"/>
          </a:p>
          <a:p>
            <a:pPr>
              <a:lnSpc>
                <a:spcPts val="2000"/>
              </a:lnSpc>
            </a:pPr>
            <a:endParaRPr lang="ru-RU" sz="1400" dirty="0">
              <a:solidFill>
                <a:srgbClr val="000000"/>
              </a:solidFill>
            </a:endParaRPr>
          </a:p>
          <a:p>
            <a:pPr>
              <a:lnSpc>
                <a:spcPts val="2000"/>
              </a:lnSpc>
            </a:pPr>
            <a:r>
              <a:rPr lang="en-US" sz="1400" b="1" dirty="0" err="1">
                <a:solidFill>
                  <a:srgbClr val="000000"/>
                </a:solidFill>
              </a:rPr>
              <a:t>Архитектура</a:t>
            </a:r>
            <a:r>
              <a:rPr lang="en-US" sz="1400" b="1" dirty="0">
                <a:solidFill>
                  <a:srgbClr val="000000"/>
                </a:solidFill>
              </a:rPr>
              <a:t>:</a:t>
            </a:r>
            <a:r>
              <a:rPr lang="en-US" sz="1400" dirty="0">
                <a:solidFill>
                  <a:srgbClr val="000000"/>
                </a:solidFill>
              </a:rPr>
              <a:t> </a:t>
            </a:r>
            <a:r>
              <a:rPr lang="en-US" sz="1400" dirty="0" err="1">
                <a:solidFill>
                  <a:srgbClr val="000000"/>
                </a:solidFill>
              </a:rPr>
              <a:t>Многослойная</a:t>
            </a:r>
            <a:r>
              <a:rPr lang="en-US" sz="1400" dirty="0">
                <a:solidFill>
                  <a:srgbClr val="000000"/>
                </a:solidFill>
              </a:rPr>
              <a:t> (Layered Architecture). </a:t>
            </a:r>
          </a:p>
          <a:p>
            <a:pPr>
              <a:lnSpc>
                <a:spcPts val="2000"/>
              </a:lnSpc>
            </a:pPr>
            <a:r>
              <a:rPr lang="en-US" sz="1400" b="1" dirty="0" err="1">
                <a:solidFill>
                  <a:srgbClr val="000000"/>
                </a:solidFill>
              </a:rPr>
              <a:t>Уровни</a:t>
            </a:r>
            <a:r>
              <a:rPr lang="en-US" sz="1400" b="1" dirty="0">
                <a:solidFill>
                  <a:srgbClr val="000000"/>
                </a:solidFill>
              </a:rPr>
              <a:t> </a:t>
            </a:r>
            <a:r>
              <a:rPr lang="en-US" sz="1400" b="1" dirty="0" err="1">
                <a:solidFill>
                  <a:srgbClr val="000000"/>
                </a:solidFill>
              </a:rPr>
              <a:t>детализации</a:t>
            </a:r>
            <a:r>
              <a:rPr lang="en-US" sz="1400" b="1" dirty="0">
                <a:solidFill>
                  <a:srgbClr val="000000"/>
                </a:solidFill>
              </a:rPr>
              <a:t>: </a:t>
            </a:r>
            <a:r>
              <a:rPr lang="en-US" sz="1400" dirty="0">
                <a:solidFill>
                  <a:srgbClr val="000000"/>
                </a:solidFill>
              </a:rPr>
              <a:t>C4 Model. </a:t>
            </a:r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31560BA9-0972-DCBD-A3CF-F9D8F6DC96A0}"/>
              </a:ext>
            </a:extLst>
          </p:cNvPr>
          <p:cNvSpPr/>
          <p:nvPr/>
        </p:nvSpPr>
        <p:spPr>
          <a:xfrm>
            <a:off x="3416512" y="430996"/>
            <a:ext cx="5358975" cy="581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</a:rPr>
              <a:t>C4</a:t>
            </a:r>
            <a:r>
              <a:rPr lang="ru-RU" sz="2200" b="1" dirty="0">
                <a:solidFill>
                  <a:srgbClr val="000000"/>
                </a:solidFill>
              </a:rPr>
              <a:t>.</a:t>
            </a:r>
            <a:r>
              <a:rPr lang="en-US" sz="2200" b="1" dirty="0">
                <a:solidFill>
                  <a:srgbClr val="000000"/>
                </a:solidFill>
              </a:rPr>
              <a:t> </a:t>
            </a:r>
            <a:r>
              <a:rPr lang="ru-RU" sz="2200" b="1" dirty="0">
                <a:solidFill>
                  <a:srgbClr val="000000"/>
                </a:solidFill>
              </a:rPr>
              <a:t>Системный контекст</a:t>
            </a:r>
            <a:endParaRPr lang="en-US" sz="2200" dirty="0"/>
          </a:p>
        </p:txBody>
      </p:sp>
      <p:pic>
        <p:nvPicPr>
          <p:cNvPr id="6" name="Image 1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304053" y="3061790"/>
            <a:ext cx="8402858" cy="3488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802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148759" y="2112182"/>
            <a:ext cx="3473828" cy="581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</a:rPr>
              <a:t>Технологический стек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2148758" y="2806385"/>
            <a:ext cx="3473828" cy="4322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000000"/>
                </a:solidFill>
              </a:rPr>
              <a:t>Backend:</a:t>
            </a:r>
            <a:r>
              <a:rPr lang="en-US" sz="1400" dirty="0">
                <a:solidFill>
                  <a:srgbClr val="000000"/>
                </a:solidFill>
              </a:rPr>
              <a:t> Python 3. 11+ FastAPI. </a:t>
            </a:r>
            <a:endParaRPr lang="ru-RU" sz="1400" dirty="0">
              <a:solidFill>
                <a:srgbClr val="000000"/>
              </a:solidFill>
            </a:endParaRPr>
          </a:p>
          <a:p>
            <a:pPr marL="0" indent="0" algn="l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000000"/>
                </a:solidFill>
              </a:rPr>
              <a:t>Database:</a:t>
            </a:r>
            <a:r>
              <a:rPr lang="en-US" sz="1400" dirty="0">
                <a:solidFill>
                  <a:srgbClr val="000000"/>
                </a:solidFill>
              </a:rPr>
              <a:t> PostgreSQL + SQLAlchemy ORM.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2148757" y="3432000"/>
            <a:ext cx="3473829" cy="4322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000000"/>
                </a:solidFill>
              </a:rPr>
              <a:t>Cache:</a:t>
            </a:r>
            <a:r>
              <a:rPr lang="en-US" sz="1400" dirty="0">
                <a:solidFill>
                  <a:srgbClr val="000000"/>
                </a:solidFill>
              </a:rPr>
              <a:t> Redis (сессии, корзины, </a:t>
            </a:r>
            <a:r>
              <a:rPr lang="en-US" sz="1400" dirty="0" err="1">
                <a:solidFill>
                  <a:srgbClr val="000000"/>
                </a:solidFill>
              </a:rPr>
              <a:t>кэш</a:t>
            </a:r>
            <a:r>
              <a:rPr lang="en-US" sz="1400" dirty="0">
                <a:solidFill>
                  <a:srgbClr val="000000"/>
                </a:solidFill>
              </a:rPr>
              <a:t>).</a:t>
            </a:r>
          </a:p>
          <a:p>
            <a:pPr>
              <a:lnSpc>
                <a:spcPts val="2000"/>
              </a:lnSpc>
            </a:pPr>
            <a:r>
              <a:rPr lang="en-US" sz="1400" b="1" dirty="0">
                <a:solidFill>
                  <a:srgbClr val="000000"/>
                </a:solidFill>
              </a:rPr>
              <a:t>Docs:</a:t>
            </a:r>
            <a:r>
              <a:rPr lang="en-US" sz="1400" dirty="0">
                <a:solidFill>
                  <a:srgbClr val="000000"/>
                </a:solidFill>
              </a:rPr>
              <a:t> </a:t>
            </a:r>
            <a:r>
              <a:rPr lang="en-US" sz="1400" dirty="0" err="1">
                <a:solidFill>
                  <a:srgbClr val="000000"/>
                </a:solidFill>
              </a:rPr>
              <a:t>OpenAPI</a:t>
            </a:r>
            <a:r>
              <a:rPr lang="en-US" sz="1400" dirty="0">
                <a:solidFill>
                  <a:srgbClr val="000000"/>
                </a:solidFill>
              </a:rPr>
              <a:t> 3.0 (Swagger). </a:t>
            </a:r>
          </a:p>
          <a:p>
            <a:pPr marL="0" indent="0" algn="l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000000"/>
                </a:solidFill>
              </a:rPr>
              <a:t>Auth:</a:t>
            </a:r>
            <a:r>
              <a:rPr lang="en-US" sz="1400" dirty="0">
                <a:solidFill>
                  <a:srgbClr val="000000"/>
                </a:solidFill>
              </a:rPr>
              <a:t> JWT tokens.</a:t>
            </a:r>
            <a:endParaRPr lang="ru-RU" sz="1400" dirty="0">
              <a:solidFill>
                <a:srgbClr val="000000"/>
              </a:solidFill>
            </a:endParaRPr>
          </a:p>
        </p:txBody>
      </p:sp>
      <p:sp>
        <p:nvSpPr>
          <p:cNvPr id="6" name="Text 3"/>
          <p:cNvSpPr/>
          <p:nvPr/>
        </p:nvSpPr>
        <p:spPr>
          <a:xfrm>
            <a:off x="2148758" y="4156954"/>
            <a:ext cx="3473828" cy="11123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000"/>
              </a:lnSpc>
            </a:pPr>
            <a:r>
              <a:rPr lang="ru-RU" sz="1400" dirty="0">
                <a:solidFill>
                  <a:srgbClr val="000000"/>
                </a:solidFill>
              </a:rPr>
              <a:t>Развертывание решения осуществляется через контейнеры Docker с помощью Kubernetes для оркестрации.</a:t>
            </a:r>
            <a:endParaRPr lang="en-US" sz="14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BF9CEC6-F268-CB9F-A42F-A477C08535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5333" y="799454"/>
            <a:ext cx="5642803" cy="525909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365513" y="989827"/>
            <a:ext cx="8507197" cy="341502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202526" y="117116"/>
            <a:ext cx="5985164" cy="581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</a:rPr>
              <a:t>C4. </a:t>
            </a:r>
            <a:r>
              <a:rPr lang="ru-RU" sz="2200" b="1" dirty="0">
                <a:solidFill>
                  <a:srgbClr val="000000"/>
                </a:solidFill>
              </a:rPr>
              <a:t>Уровень контейнеров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4202526" y="4404852"/>
            <a:ext cx="5818909" cy="681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000000"/>
                </a:solidFill>
              </a:rPr>
              <a:t>Покупатели (основные пользователи) </a:t>
            </a:r>
            <a:r>
              <a:rPr lang="en-US" sz="1400" dirty="0">
                <a:solidFill>
                  <a:srgbClr val="000000"/>
                </a:solidFill>
              </a:rPr>
              <a:t>— действия: просмотр товаров, управление корзиной, оформление заказов.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4202526" y="5086496"/>
            <a:ext cx="5818909" cy="16791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000000"/>
                </a:solidFill>
              </a:rPr>
              <a:t>Администраторы (управление системой) </a:t>
            </a:r>
            <a:r>
              <a:rPr lang="en-US" sz="1400" dirty="0">
                <a:solidFill>
                  <a:srgbClr val="000000"/>
                </a:solidFill>
              </a:rPr>
              <a:t>— действия: CRUD товаров, управление заказами, аналитика. </a:t>
            </a:r>
            <a:endParaRPr lang="ru-RU" sz="1400" dirty="0">
              <a:solidFill>
                <a:srgbClr val="000000"/>
              </a:solidFill>
            </a:endParaRPr>
          </a:p>
          <a:p>
            <a:pPr marL="0" indent="0" algn="l">
              <a:lnSpc>
                <a:spcPts val="2000"/>
              </a:lnSpc>
              <a:buNone/>
            </a:pPr>
            <a:endParaRPr lang="ru-RU" sz="1400" dirty="0">
              <a:solidFill>
                <a:srgbClr val="000000"/>
              </a:solidFill>
            </a:endParaRPr>
          </a:p>
          <a:p>
            <a:pPr marL="0" indent="0" algn="l">
              <a:lnSpc>
                <a:spcPts val="2000"/>
              </a:lnSpc>
              <a:buNone/>
            </a:pPr>
            <a:r>
              <a:rPr lang="en-US" sz="1400" b="1" dirty="0" err="1">
                <a:solidFill>
                  <a:srgbClr val="000000"/>
                </a:solidFill>
              </a:rPr>
              <a:t>Внешние</a:t>
            </a:r>
            <a:r>
              <a:rPr lang="en-US" sz="1400" b="1" dirty="0">
                <a:solidFill>
                  <a:srgbClr val="000000"/>
                </a:solidFill>
              </a:rPr>
              <a:t> системы: </a:t>
            </a:r>
            <a:r>
              <a:rPr lang="en-US" sz="1400" dirty="0" err="1">
                <a:solidFill>
                  <a:srgbClr val="000000"/>
                </a:solidFill>
              </a:rPr>
              <a:t>платёжный</a:t>
            </a:r>
            <a:r>
              <a:rPr lang="en-US" sz="1400" dirty="0">
                <a:solidFill>
                  <a:srgbClr val="000000"/>
                </a:solidFill>
              </a:rPr>
              <a:t> шлюз (critical dependency), email сервис (async communication). </a:t>
            </a:r>
            <a:endParaRPr lang="ru-RU" sz="14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196743" y="594725"/>
            <a:ext cx="5458999" cy="581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ru-RU" sz="2200" b="1" dirty="0">
                <a:solidFill>
                  <a:srgbClr val="000000"/>
                </a:solidFill>
              </a:rPr>
              <a:t>Требования к REST API онлайн-магазина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1968868" y="1738563"/>
            <a:ext cx="4849091" cy="430595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/>
        </p:spPr>
        <p:txBody>
          <a:bodyPr wrap="square" rtlCol="0" anchor="ctr"/>
          <a:lstStyle/>
          <a:p>
            <a:r>
              <a:rPr lang="ru-RU" sz="1600" b="1" dirty="0"/>
              <a:t>Функциональные требования</a:t>
            </a:r>
          </a:p>
          <a:p>
            <a:endParaRPr lang="ru-RU" sz="1200" b="1" dirty="0"/>
          </a:p>
          <a:p>
            <a:r>
              <a:rPr lang="ru-RU" sz="1200" b="1" dirty="0"/>
              <a:t>Бизнес-требования:</a:t>
            </a:r>
            <a:endParaRPr lang="ru-RU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dirty="0"/>
              <a:t>Полный CRUD для товаров, заказов, пользователей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dirty="0"/>
              <a:t>Автоматизация бизнес-процессов через API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dirty="0"/>
              <a:t>Валидация данных и контроль доступа (JWT)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dirty="0"/>
              <a:t>Разделение прав: пользователи → заказы, админы → товары</a:t>
            </a:r>
          </a:p>
          <a:p>
            <a:endParaRPr lang="en-US" sz="1200" b="1" dirty="0"/>
          </a:p>
          <a:p>
            <a:r>
              <a:rPr lang="ru-RU" sz="1200" b="1" dirty="0"/>
              <a:t>Клиентское приложение:</a:t>
            </a:r>
            <a:endParaRPr lang="ru-RU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dirty="0"/>
              <a:t>Просмотр товаров с пагинацией и фильтрацией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dirty="0"/>
              <a:t>Управление корзиной покупок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dirty="0"/>
              <a:t>Создание и отслеживание заказов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dirty="0"/>
              <a:t>Регистрация и аутентификация пользователей</a:t>
            </a:r>
          </a:p>
          <a:p>
            <a:endParaRPr lang="en-US" sz="1200" b="1" dirty="0"/>
          </a:p>
          <a:p>
            <a:r>
              <a:rPr lang="ru-RU" sz="1200" b="1" dirty="0"/>
              <a:t>Административная система:</a:t>
            </a:r>
            <a:endParaRPr lang="ru-RU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dirty="0"/>
              <a:t>Полное управление товарным каталогом (CRUD)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dirty="0"/>
              <a:t>Управление статусами заказов и пользователями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dirty="0"/>
              <a:t>Аналитика продаж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dirty="0"/>
              <a:t>Модерация пользователей</a:t>
            </a:r>
          </a:p>
          <a:p>
            <a:endParaRPr lang="en-US" sz="1200" b="1" dirty="0"/>
          </a:p>
          <a:p>
            <a:r>
              <a:rPr lang="ru-RU" sz="1200" b="1" dirty="0"/>
              <a:t>Ключевые эндпоинты:</a:t>
            </a:r>
            <a:endParaRPr lang="ru-RU" sz="1200" dirty="0"/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ru-RU" sz="1200" dirty="0"/>
              <a:t>Товары: GET/POST/PUT/DELETE /api/products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ru-RU" sz="1200" dirty="0"/>
              <a:t>Заказы: GET/POST/PUT/DELETE /api/orders</a:t>
            </a:r>
          </a:p>
        </p:txBody>
      </p:sp>
      <p:sp>
        <p:nvSpPr>
          <p:cNvPr id="5" name="Text 2"/>
          <p:cNvSpPr/>
          <p:nvPr/>
        </p:nvSpPr>
        <p:spPr>
          <a:xfrm>
            <a:off x="7154844" y="1738562"/>
            <a:ext cx="4467662" cy="430595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/>
        </p:spPr>
        <p:txBody>
          <a:bodyPr wrap="square" rtlCol="0" anchor="ctr"/>
          <a:lstStyle/>
          <a:p>
            <a:r>
              <a:rPr lang="ru-RU" sz="1600" b="1" dirty="0"/>
              <a:t>Нефункциональные требования</a:t>
            </a:r>
          </a:p>
          <a:p>
            <a:endParaRPr lang="en-US" sz="1200" b="1" dirty="0"/>
          </a:p>
          <a:p>
            <a:endParaRPr lang="en-US" sz="1200" b="1" dirty="0"/>
          </a:p>
          <a:p>
            <a:endParaRPr lang="en-US" sz="1200" b="1" dirty="0"/>
          </a:p>
          <a:p>
            <a:r>
              <a:rPr lang="ru-RU" sz="1200" b="1" dirty="0"/>
              <a:t>Производительность:</a:t>
            </a:r>
            <a:endParaRPr lang="ru-RU" sz="1200" dirty="0"/>
          </a:p>
          <a:p>
            <a:r>
              <a:rPr lang="ru-RU" sz="1200" dirty="0"/>
              <a:t>Время ответа:</a:t>
            </a:r>
          </a:p>
          <a:p>
            <a:pPr lvl="1"/>
            <a:r>
              <a:rPr lang="ru-RU" sz="1200" dirty="0"/>
              <a:t>Операции чтения: ≤ 50 мс</a:t>
            </a:r>
          </a:p>
          <a:p>
            <a:pPr lvl="1"/>
            <a:r>
              <a:rPr lang="ru-RU" sz="1200" dirty="0"/>
              <a:t>Создание/обновление: ≤ 100 мс</a:t>
            </a:r>
          </a:p>
          <a:p>
            <a:pPr lvl="1"/>
            <a:r>
              <a:rPr lang="ru-RU" sz="1200" dirty="0"/>
              <a:t>Транзакции (заказы): ≤ 200 мс</a:t>
            </a:r>
          </a:p>
          <a:p>
            <a:r>
              <a:rPr lang="ru-RU" sz="1200" dirty="0"/>
              <a:t>Нагрузка:</a:t>
            </a:r>
          </a:p>
          <a:p>
            <a:pPr lvl="1"/>
            <a:r>
              <a:rPr lang="ru-RU" sz="1200" dirty="0"/>
              <a:t>Эндпоинты чтения: 1000 RPS</a:t>
            </a:r>
          </a:p>
          <a:p>
            <a:pPr lvl="1"/>
            <a:r>
              <a:rPr lang="ru-RU" sz="1200" dirty="0"/>
              <a:t>Эндпоинты записи: 100 RPS</a:t>
            </a:r>
          </a:p>
          <a:p>
            <a:endParaRPr lang="en-US" sz="1200" b="1" dirty="0"/>
          </a:p>
          <a:p>
            <a:r>
              <a:rPr lang="ru-RU" sz="1200" b="1" dirty="0"/>
              <a:t>Надежность:</a:t>
            </a:r>
            <a:endParaRPr lang="ru-RU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dirty="0"/>
              <a:t>Атомарность транзакций (PostgreSQL)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dirty="0"/>
              <a:t>Целостность данных (ссылочная целостность на уровне API)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dirty="0"/>
              <a:t>Откат при ошибках в сложных операциях</a:t>
            </a:r>
          </a:p>
          <a:p>
            <a:endParaRPr lang="en-US" sz="1200" b="1" dirty="0"/>
          </a:p>
          <a:p>
            <a:r>
              <a:rPr lang="ru-RU" sz="1200" b="1" dirty="0"/>
              <a:t>Архитектура:</a:t>
            </a:r>
            <a:endParaRPr lang="ru-RU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dirty="0"/>
              <a:t>RESTful стандарты (HTTP методы, коды состояния)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dirty="0"/>
              <a:t>Валидация входных данных для всех операций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dirty="0"/>
              <a:t>Интеграция с клиентскими приложениями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576923" y="1064652"/>
            <a:ext cx="10615077" cy="472869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864867" y="150667"/>
            <a:ext cx="4047980" cy="581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</a:rPr>
              <a:t>C4. </a:t>
            </a:r>
            <a:r>
              <a:rPr lang="ru-RU" sz="2200" b="1" dirty="0">
                <a:solidFill>
                  <a:srgbClr val="000000"/>
                </a:solidFill>
              </a:rPr>
              <a:t>Уровень компонентов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336924" y="-27248"/>
            <a:ext cx="3486924" cy="581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ru-RU" sz="2200" b="1" dirty="0">
                <a:solidFill>
                  <a:srgbClr val="000000"/>
                </a:solidFill>
              </a:rPr>
              <a:t>Варианты развёртывания</a:t>
            </a:r>
            <a:endParaRPr lang="en-US" sz="2200" dirty="0"/>
          </a:p>
        </p:txBody>
      </p:sp>
      <p:pic>
        <p:nvPicPr>
          <p:cNvPr id="7" name="Picture 6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72060F06-B9F6-CB62-5925-83C7042B61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5952" y="582702"/>
            <a:ext cx="3390387" cy="4503798"/>
          </a:xfrm>
          <a:prstGeom prst="rect">
            <a:avLst/>
          </a:prstGeom>
        </p:spPr>
      </p:pic>
      <p:pic>
        <p:nvPicPr>
          <p:cNvPr id="9" name="Picture 8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C4E315C7-CFEB-E099-6637-ADBFFA472A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1788" y="582702"/>
            <a:ext cx="3410890" cy="4478530"/>
          </a:xfrm>
          <a:prstGeom prst="rect">
            <a:avLst/>
          </a:prstGeom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452E3B2A-760C-C06A-0518-3957A32F80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5492774"/>
              </p:ext>
            </p:extLst>
          </p:nvPr>
        </p:nvGraphicFramePr>
        <p:xfrm>
          <a:off x="3016384" y="5174784"/>
          <a:ext cx="8413614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2953">
                  <a:extLst>
                    <a:ext uri="{9D8B030D-6E8A-4147-A177-3AD203B41FA5}">
                      <a16:colId xmlns:a16="http://schemas.microsoft.com/office/drawing/2014/main" val="48435235"/>
                    </a:ext>
                  </a:extLst>
                </a:gridCol>
                <a:gridCol w="1311442">
                  <a:extLst>
                    <a:ext uri="{9D8B030D-6E8A-4147-A177-3AD203B41FA5}">
                      <a16:colId xmlns:a16="http://schemas.microsoft.com/office/drawing/2014/main" val="4215878007"/>
                    </a:ext>
                  </a:extLst>
                </a:gridCol>
                <a:gridCol w="1431758">
                  <a:extLst>
                    <a:ext uri="{9D8B030D-6E8A-4147-A177-3AD203B41FA5}">
                      <a16:colId xmlns:a16="http://schemas.microsoft.com/office/drawing/2014/main" val="1895557724"/>
                    </a:ext>
                  </a:extLst>
                </a:gridCol>
                <a:gridCol w="1203158">
                  <a:extLst>
                    <a:ext uri="{9D8B030D-6E8A-4147-A177-3AD203B41FA5}">
                      <a16:colId xmlns:a16="http://schemas.microsoft.com/office/drawing/2014/main" val="3289409674"/>
                    </a:ext>
                  </a:extLst>
                </a:gridCol>
                <a:gridCol w="1323473">
                  <a:extLst>
                    <a:ext uri="{9D8B030D-6E8A-4147-A177-3AD203B41FA5}">
                      <a16:colId xmlns:a16="http://schemas.microsoft.com/office/drawing/2014/main" val="3485185927"/>
                    </a:ext>
                  </a:extLst>
                </a:gridCol>
                <a:gridCol w="1840830">
                  <a:extLst>
                    <a:ext uri="{9D8B030D-6E8A-4147-A177-3AD203B41FA5}">
                      <a16:colId xmlns:a16="http://schemas.microsoft.com/office/drawing/2014/main" val="9385452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Масштаб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CPU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RAM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Storage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Монолит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Микросервисы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0613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dirty="0"/>
                        <a:t>10³ пользователей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dirty="0"/>
                        <a:t>2-4 ядра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4-8 GB</a:t>
                      </a:r>
                      <a:endParaRPr lang="ru-R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50-100 GB</a:t>
                      </a:r>
                      <a:endParaRPr lang="ru-R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dirty="0"/>
                        <a:t>✓ Экономия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dirty="0"/>
                        <a:t>✗ Избыточно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38632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dirty="0"/>
                        <a:t>10⁵ пользователей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dirty="0"/>
                        <a:t>8-16 ядер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16-32 GB</a:t>
                      </a:r>
                      <a:endParaRPr lang="ru-R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500 GB - 1 TB</a:t>
                      </a:r>
                      <a:endParaRPr lang="ru-R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dirty="0"/>
                        <a:t>~ Окей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dirty="0"/>
                        <a:t>✓ Оптимально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00581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dirty="0"/>
                        <a:t>10⁶ пользователей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dirty="0"/>
                        <a:t>32-64+ ядер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64-128+ GB</a:t>
                      </a:r>
                      <a:endParaRPr lang="ru-R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2-5+TB</a:t>
                      </a:r>
                      <a:endParaRPr lang="ru-R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dirty="0"/>
                        <a:t>✗ Сложно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dirty="0"/>
                        <a:t>✓ Идеально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661802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930522" y="105760"/>
            <a:ext cx="9655888" cy="599343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245962" y="6170349"/>
            <a:ext cx="3025007" cy="581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</a:rPr>
              <a:t>C4. </a:t>
            </a:r>
            <a:r>
              <a:rPr lang="ru-RU" sz="2200" b="1" dirty="0">
                <a:solidFill>
                  <a:srgbClr val="000000"/>
                </a:solidFill>
              </a:rPr>
              <a:t>Уровень классов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444212" y="89076"/>
            <a:ext cx="4806069" cy="581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</a:rPr>
              <a:t>Модели данных и репозитории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1928153" y="670967"/>
            <a:ext cx="4914355" cy="324777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00" b="1" dirty="0" err="1">
                <a:solidFill>
                  <a:srgbClr val="000000"/>
                </a:solidFill>
              </a:rPr>
              <a:t>SQLAlchemy</a:t>
            </a:r>
            <a:r>
              <a:rPr lang="en-US" sz="1200" b="1" dirty="0">
                <a:solidFill>
                  <a:srgbClr val="000000"/>
                </a:solidFill>
              </a:rPr>
              <a:t> models:</a:t>
            </a:r>
            <a:endParaRPr lang="ru-RU" sz="1200" b="1" dirty="0">
              <a:solidFill>
                <a:srgbClr val="000000"/>
              </a:solidFill>
            </a:endParaRPr>
          </a:p>
          <a:p>
            <a:pPr marL="285750" indent="-285750" algn="l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ru-RU" sz="1200" i="1" dirty="0">
                <a:solidFill>
                  <a:srgbClr val="000000"/>
                </a:solidFill>
              </a:rPr>
              <a:t>User</a:t>
            </a:r>
            <a:r>
              <a:rPr lang="ru-RU" sz="1200" dirty="0">
                <a:solidFill>
                  <a:srgbClr val="000000"/>
                </a:solidFill>
              </a:rPr>
              <a:t>: представляет пользователя системы. </a:t>
            </a:r>
          </a:p>
          <a:p>
            <a:pPr marL="742950" lvl="1" indent="-285750">
              <a:lnSpc>
                <a:spcPts val="2000"/>
              </a:lnSpc>
              <a:buFont typeface="Courier New" panose="02070309020205020404" pitchFamily="49" charset="0"/>
              <a:buChar char="o"/>
            </a:pPr>
            <a:r>
              <a:rPr lang="ru-RU" sz="1200" dirty="0">
                <a:solidFill>
                  <a:srgbClr val="000000"/>
                </a:solidFill>
              </a:rPr>
              <a:t>Поля: id, email, хэшированный пароль, роль, дата создания и обновления.</a:t>
            </a:r>
          </a:p>
          <a:p>
            <a:pPr marL="285750" indent="-285750" algn="l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ru-RU" sz="1200" i="1" dirty="0">
                <a:solidFill>
                  <a:srgbClr val="000000"/>
                </a:solidFill>
              </a:rPr>
              <a:t>Product</a:t>
            </a:r>
            <a:r>
              <a:rPr lang="ru-RU" sz="1200" dirty="0">
                <a:solidFill>
                  <a:srgbClr val="000000"/>
                </a:solidFill>
              </a:rPr>
              <a:t>: представляет товар в магазине. </a:t>
            </a:r>
          </a:p>
          <a:p>
            <a:pPr marL="628650" lvl="1" indent="-171450">
              <a:lnSpc>
                <a:spcPts val="2000"/>
              </a:lnSpc>
              <a:buFont typeface="Courier New" panose="02070309020205020404" pitchFamily="49" charset="0"/>
              <a:buChar char="o"/>
            </a:pPr>
            <a:r>
              <a:rPr lang="ru-RU" sz="1200" dirty="0">
                <a:solidFill>
                  <a:srgbClr val="000000"/>
                </a:solidFill>
              </a:rPr>
              <a:t>Поля: id, название, описание, цена, количество на складе, категория, активен ли товар, дата создания.</a:t>
            </a:r>
          </a:p>
          <a:p>
            <a:pPr marL="285750" indent="-285750" algn="l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ru-RU" sz="1200" i="1" dirty="0">
                <a:solidFill>
                  <a:srgbClr val="000000"/>
                </a:solidFill>
              </a:rPr>
              <a:t>Order</a:t>
            </a:r>
            <a:r>
              <a:rPr lang="ru-RU" sz="1200" dirty="0">
                <a:solidFill>
                  <a:srgbClr val="000000"/>
                </a:solidFill>
              </a:rPr>
              <a:t>: представляет заказ, сделанный пользователем. </a:t>
            </a:r>
          </a:p>
          <a:p>
            <a:pPr marL="742950" lvl="1" indent="-285750">
              <a:lnSpc>
                <a:spcPts val="2000"/>
              </a:lnSpc>
              <a:buFont typeface="Courier New" panose="02070309020205020404" pitchFamily="49" charset="0"/>
              <a:buChar char="o"/>
            </a:pPr>
            <a:r>
              <a:rPr lang="ru-RU" sz="1200" dirty="0">
                <a:solidFill>
                  <a:srgbClr val="000000"/>
                </a:solidFill>
              </a:rPr>
              <a:t>Поля: id, пользователь (связь с User), статус заказа, общая сумма, адрес доставки, статус оплаты, дата создания.</a:t>
            </a:r>
          </a:p>
          <a:p>
            <a:pPr marL="285750" indent="-285750" algn="l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ru-RU" sz="1200" i="1" dirty="0">
                <a:solidFill>
                  <a:srgbClr val="000000"/>
                </a:solidFill>
              </a:rPr>
              <a:t>OrderItem</a:t>
            </a:r>
            <a:r>
              <a:rPr lang="ru-RU" sz="1200" dirty="0">
                <a:solidFill>
                  <a:srgbClr val="000000"/>
                </a:solidFill>
              </a:rPr>
              <a:t>: представляет позицию в заказе. </a:t>
            </a:r>
          </a:p>
          <a:p>
            <a:pPr marL="742950" lvl="1" indent="-285750">
              <a:lnSpc>
                <a:spcPts val="2000"/>
              </a:lnSpc>
              <a:buFont typeface="Courier New" panose="02070309020205020404" pitchFamily="49" charset="0"/>
              <a:buChar char="o"/>
            </a:pPr>
            <a:r>
              <a:rPr lang="ru-RU" sz="1200" dirty="0">
                <a:solidFill>
                  <a:srgbClr val="000000"/>
                </a:solidFill>
              </a:rPr>
              <a:t>Поля: id, заказ (связь с Order), товар (связь с Product), количество, цена за единицу, общая цена за позицию.</a:t>
            </a:r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5" name="Text 2"/>
          <p:cNvSpPr/>
          <p:nvPr/>
        </p:nvSpPr>
        <p:spPr>
          <a:xfrm>
            <a:off x="7085871" y="670967"/>
            <a:ext cx="4328819" cy="25698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>
              <a:lnSpc>
                <a:spcPts val="2000"/>
              </a:lnSpc>
            </a:pPr>
            <a:r>
              <a:rPr lang="en-US" sz="1200" b="1" dirty="0" err="1">
                <a:solidFill>
                  <a:srgbClr val="000000"/>
                </a:solidFill>
              </a:rPr>
              <a:t>Репозитории</a:t>
            </a:r>
            <a:r>
              <a:rPr lang="en-US" sz="1200" b="1" dirty="0">
                <a:solidFill>
                  <a:srgbClr val="000000"/>
                </a:solidFill>
              </a:rPr>
              <a:t>: </a:t>
            </a:r>
            <a:endParaRPr lang="ru-RU" sz="1200" b="1" dirty="0">
              <a:solidFill>
                <a:srgbClr val="000000"/>
              </a:solidFill>
            </a:endParaRPr>
          </a:p>
          <a:p>
            <a:pPr algn="l">
              <a:lnSpc>
                <a:spcPts val="2000"/>
              </a:lnSpc>
            </a:pPr>
            <a:endParaRPr lang="ru-RU" sz="1200" b="1" dirty="0">
              <a:solidFill>
                <a:srgbClr val="000000"/>
              </a:solidFill>
            </a:endParaRPr>
          </a:p>
          <a:p>
            <a:pPr algn="l">
              <a:lnSpc>
                <a:spcPts val="2000"/>
              </a:lnSpc>
            </a:pPr>
            <a:endParaRPr lang="ru-RU" sz="1200" b="1" dirty="0">
              <a:solidFill>
                <a:srgbClr val="000000"/>
              </a:solidFill>
            </a:endParaRPr>
          </a:p>
          <a:p>
            <a:pPr marL="285750" indent="-285750" algn="l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ru-RU" sz="1200" i="1" dirty="0">
                <a:solidFill>
                  <a:srgbClr val="000000"/>
                </a:solidFill>
              </a:rPr>
              <a:t>ProductRepository</a:t>
            </a:r>
            <a:r>
              <a:rPr lang="ru-RU" sz="1200" dirty="0">
                <a:solidFill>
                  <a:srgbClr val="000000"/>
                </a:solidFill>
              </a:rPr>
              <a:t>: отвечает за операции с товарами (поиск, фильтрация, обновление количества на складе)</a:t>
            </a:r>
          </a:p>
          <a:p>
            <a:pPr marL="285750" indent="-285750" algn="l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ru-RU" sz="1200" i="1" dirty="0">
                <a:solidFill>
                  <a:srgbClr val="000000"/>
                </a:solidFill>
              </a:rPr>
              <a:t>OrderRepository</a:t>
            </a:r>
            <a:r>
              <a:rPr lang="ru-RU" sz="1200" dirty="0">
                <a:solidFill>
                  <a:srgbClr val="000000"/>
                </a:solidFill>
              </a:rPr>
              <a:t>: отвечает за операции с заказами (создание заказа, получение заказов пользователя, обновление статуса)</a:t>
            </a:r>
          </a:p>
          <a:p>
            <a:pPr marL="285750" indent="-285750" algn="l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ru-RU" sz="1200" i="1" dirty="0">
                <a:solidFill>
                  <a:srgbClr val="000000"/>
                </a:solidFill>
              </a:rPr>
              <a:t>CartRepository</a:t>
            </a:r>
            <a:r>
              <a:rPr lang="ru-RU" sz="1200" dirty="0">
                <a:solidFill>
                  <a:srgbClr val="000000"/>
                </a:solidFill>
              </a:rPr>
              <a:t>: отвечает за</a:t>
            </a:r>
            <a:r>
              <a:rPr lang="ru-RU" sz="1200" b="1" dirty="0">
                <a:solidFill>
                  <a:srgbClr val="000000"/>
                </a:solidFill>
              </a:rPr>
              <a:t> </a:t>
            </a:r>
            <a:r>
              <a:rPr lang="ru-RU" sz="1200" dirty="0">
                <a:solidFill>
                  <a:srgbClr val="000000"/>
                </a:solidFill>
              </a:rPr>
              <a:t>операции с корзиной (добавление товаров, удаление, получение корзины)</a:t>
            </a:r>
            <a:endParaRPr lang="en-US" sz="1200" dirty="0">
              <a:solidFill>
                <a:srgbClr val="00000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5D0B394-36D8-1B20-A6BA-8B55306EF2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8056" y="3976437"/>
            <a:ext cx="7603954" cy="279248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1"/>
          <p:cNvSpPr/>
          <p:nvPr/>
        </p:nvSpPr>
        <p:spPr>
          <a:xfrm>
            <a:off x="2060132" y="1382071"/>
            <a:ext cx="5818908" cy="581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</a:rPr>
              <a:t>Безопасность и аутентификация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2060132" y="2458857"/>
            <a:ext cx="5818909" cy="14868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000"/>
              </a:lnSpc>
            </a:pPr>
            <a:r>
              <a:rPr lang="en-US" sz="1400" b="1" dirty="0">
                <a:solidFill>
                  <a:srgbClr val="000000"/>
                </a:solidFill>
              </a:rPr>
              <a:t>JWT </a:t>
            </a:r>
            <a:r>
              <a:rPr lang="en-US" sz="1400" b="1" dirty="0" err="1">
                <a:solidFill>
                  <a:srgbClr val="000000"/>
                </a:solidFill>
              </a:rPr>
              <a:t>аутентификация</a:t>
            </a:r>
            <a:r>
              <a:rPr lang="en-US" sz="1400" b="1" dirty="0">
                <a:solidFill>
                  <a:srgbClr val="000000"/>
                </a:solidFill>
              </a:rPr>
              <a:t>:</a:t>
            </a:r>
            <a:r>
              <a:rPr lang="en-US" sz="1400" dirty="0">
                <a:solidFill>
                  <a:srgbClr val="000000"/>
                </a:solidFill>
              </a:rPr>
              <a:t> </a:t>
            </a:r>
            <a:r>
              <a:rPr lang="en-US" sz="1400" dirty="0" err="1">
                <a:solidFill>
                  <a:srgbClr val="000000"/>
                </a:solidFill>
              </a:rPr>
              <a:t>структура</a:t>
            </a:r>
            <a:r>
              <a:rPr lang="en-US" sz="1400" dirty="0">
                <a:solidFill>
                  <a:srgbClr val="000000"/>
                </a:solidFill>
              </a:rPr>
              <a:t> </a:t>
            </a:r>
            <a:r>
              <a:rPr lang="en-US" sz="1400" dirty="0" err="1">
                <a:solidFill>
                  <a:srgbClr val="000000"/>
                </a:solidFill>
              </a:rPr>
              <a:t>токенов</a:t>
            </a:r>
            <a:r>
              <a:rPr lang="en-US" sz="1400" dirty="0">
                <a:solidFill>
                  <a:srgbClr val="000000"/>
                </a:solidFill>
              </a:rPr>
              <a:t>, security features.</a:t>
            </a:r>
          </a:p>
          <a:p>
            <a:pPr marL="0" indent="0" algn="l">
              <a:lnSpc>
                <a:spcPts val="2000"/>
              </a:lnSpc>
              <a:buNone/>
            </a:pPr>
            <a:endParaRPr lang="en-US" sz="1400" dirty="0">
              <a:solidFill>
                <a:srgbClr val="000000"/>
              </a:solidFill>
            </a:endParaRPr>
          </a:p>
          <a:p>
            <a:pPr marL="0" indent="0" algn="l">
              <a:lnSpc>
                <a:spcPts val="2000"/>
              </a:lnSpc>
              <a:buNone/>
            </a:pPr>
            <a:r>
              <a:rPr lang="ru-RU" sz="1400" b="1" dirty="0">
                <a:solidFill>
                  <a:srgbClr val="000000"/>
                </a:solidFill>
              </a:rPr>
              <a:t>З</a:t>
            </a:r>
            <a:r>
              <a:rPr lang="en-US" sz="1400" b="1" dirty="0" err="1">
                <a:solidFill>
                  <a:srgbClr val="000000"/>
                </a:solidFill>
              </a:rPr>
              <a:t>ащита</a:t>
            </a:r>
            <a:r>
              <a:rPr lang="en-US" sz="1400" b="1" dirty="0">
                <a:solidFill>
                  <a:srgbClr val="000000"/>
                </a:solidFill>
              </a:rPr>
              <a:t> endpoints:</a:t>
            </a:r>
            <a:r>
              <a:rPr lang="en-US" sz="1400" dirty="0">
                <a:solidFill>
                  <a:srgbClr val="000000"/>
                </a:solidFill>
              </a:rPr>
              <a:t> Rate Limiting, Data Validation, Input Sanitization. </a:t>
            </a:r>
          </a:p>
          <a:p>
            <a:pPr marL="0" indent="0" algn="l">
              <a:lnSpc>
                <a:spcPts val="2000"/>
              </a:lnSpc>
              <a:buNone/>
            </a:pPr>
            <a:endParaRPr lang="en-US" sz="1400" dirty="0">
              <a:solidFill>
                <a:srgbClr val="000000"/>
              </a:solidFill>
            </a:endParaRPr>
          </a:p>
          <a:p>
            <a:pPr marL="0" indent="0" algn="l">
              <a:lnSpc>
                <a:spcPts val="2000"/>
              </a:lnSpc>
              <a:buNone/>
            </a:pPr>
            <a:r>
              <a:rPr lang="ru-RU" sz="1400" b="1" dirty="0">
                <a:solidFill>
                  <a:srgbClr val="000000"/>
                </a:solidFill>
              </a:rPr>
              <a:t>Авторизация</a:t>
            </a:r>
            <a:r>
              <a:rPr lang="en-US" sz="1400" b="1" dirty="0">
                <a:solidFill>
                  <a:srgbClr val="000000"/>
                </a:solidFill>
              </a:rPr>
              <a:t>:</a:t>
            </a:r>
            <a:r>
              <a:rPr lang="en-US" sz="1400" dirty="0">
                <a:solidFill>
                  <a:srgbClr val="000000"/>
                </a:solidFill>
              </a:rPr>
              <a:t> ролевая модель, permission system.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2060133" y="4440608"/>
            <a:ext cx="5818909" cy="11804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000"/>
              </a:lnSpc>
            </a:pPr>
            <a:r>
              <a:rPr lang="ru-RU" sz="1400" dirty="0">
                <a:solidFill>
                  <a:srgbClr val="000000"/>
                </a:solidFill>
              </a:rPr>
              <a:t>Внедрение надлежащих механизмов обработки ошибок имеет решающее значение для поддержания безопасности и предоставления значимой обратной связи пользователям. Мониторинг и регистрация подозрительных действий помогают выявлять и предотвращать потенциальные нарушения безопасности.</a:t>
            </a:r>
            <a:endParaRPr lang="en-US" sz="1400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68AB6D5C-2869-356F-C039-6A0A081440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90284" y="1739221"/>
            <a:ext cx="3379558" cy="337955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710477" y="156410"/>
            <a:ext cx="2771046" cy="581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ru-RU" sz="2400" b="1" dirty="0">
                <a:solidFill>
                  <a:srgbClr val="000000"/>
                </a:solidFill>
              </a:rPr>
              <a:t>Масштабирование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7285121" y="797697"/>
            <a:ext cx="4156364" cy="58790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ru-RU" sz="1400" b="1" dirty="0">
                <a:solidFill>
                  <a:srgbClr val="000000"/>
                </a:solidFill>
              </a:rPr>
              <a:t>Г</a:t>
            </a:r>
            <a:r>
              <a:rPr lang="en-US" sz="1400" b="1" dirty="0" err="1">
                <a:solidFill>
                  <a:srgbClr val="000000"/>
                </a:solidFill>
              </a:rPr>
              <a:t>оризонтальное</a:t>
            </a:r>
            <a:r>
              <a:rPr lang="en-US" sz="1400" b="1" dirty="0">
                <a:solidFill>
                  <a:srgbClr val="000000"/>
                </a:solidFill>
              </a:rPr>
              <a:t> </a:t>
            </a:r>
            <a:r>
              <a:rPr lang="en-US" sz="1400" b="1" dirty="0" err="1">
                <a:solidFill>
                  <a:srgbClr val="000000"/>
                </a:solidFill>
              </a:rPr>
              <a:t>масштабирование</a:t>
            </a:r>
            <a:r>
              <a:rPr lang="en-US" sz="1400" b="1" dirty="0">
                <a:solidFill>
                  <a:srgbClr val="000000"/>
                </a:solidFill>
              </a:rPr>
              <a:t>: </a:t>
            </a:r>
            <a:endParaRPr lang="ru-RU" sz="1400" b="1" dirty="0">
              <a:solidFill>
                <a:srgbClr val="000000"/>
              </a:solidFill>
            </a:endParaRPr>
          </a:p>
          <a:p>
            <a:pPr marL="285750" indent="-285750" algn="l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Stateless </a:t>
            </a:r>
            <a:r>
              <a:rPr lang="en-US" sz="1400" dirty="0" err="1">
                <a:solidFill>
                  <a:srgbClr val="000000"/>
                </a:solidFill>
              </a:rPr>
              <a:t>компоненты</a:t>
            </a:r>
            <a:r>
              <a:rPr lang="ru-RU" sz="1400" dirty="0">
                <a:solidFill>
                  <a:srgbClr val="000000"/>
                </a:solidFill>
              </a:rPr>
              <a:t>: </a:t>
            </a:r>
            <a:r>
              <a:rPr lang="en-US" sz="1400" dirty="0">
                <a:solidFill>
                  <a:srgbClr val="000000"/>
                </a:solidFill>
              </a:rPr>
              <a:t>API </a:t>
            </a:r>
            <a:r>
              <a:rPr lang="ru-RU" sz="1400" dirty="0">
                <a:solidFill>
                  <a:srgbClr val="000000"/>
                </a:solidFill>
              </a:rPr>
              <a:t>серверы, </a:t>
            </a:r>
            <a:r>
              <a:rPr lang="en-US" sz="1400" dirty="0">
                <a:solidFill>
                  <a:srgbClr val="000000"/>
                </a:solidFill>
              </a:rPr>
              <a:t>Celery workers</a:t>
            </a:r>
            <a:endParaRPr lang="ru-RU" sz="1400" dirty="0">
              <a:solidFill>
                <a:srgbClr val="000000"/>
              </a:solidFill>
            </a:endParaRPr>
          </a:p>
          <a:p>
            <a:pPr marL="285750" indent="-285750" algn="l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Балансировка нагрузки</a:t>
            </a:r>
          </a:p>
          <a:p>
            <a:pPr marL="0" indent="0" algn="l">
              <a:lnSpc>
                <a:spcPts val="2000"/>
              </a:lnSpc>
              <a:buNone/>
            </a:pPr>
            <a:endParaRPr lang="ru-RU" sz="1400" dirty="0">
              <a:solidFill>
                <a:srgbClr val="000000"/>
              </a:solidFill>
            </a:endParaRPr>
          </a:p>
          <a:p>
            <a:pPr>
              <a:lnSpc>
                <a:spcPts val="2000"/>
              </a:lnSpc>
            </a:pPr>
            <a:r>
              <a:rPr lang="ru-RU" sz="1400" b="1" dirty="0">
                <a:solidFill>
                  <a:srgbClr val="000000"/>
                </a:solidFill>
              </a:rPr>
              <a:t>Вертикальное</a:t>
            </a:r>
            <a:r>
              <a:rPr lang="en-US" sz="1400" b="1" dirty="0">
                <a:solidFill>
                  <a:srgbClr val="000000"/>
                </a:solidFill>
              </a:rPr>
              <a:t> </a:t>
            </a:r>
            <a:r>
              <a:rPr lang="en-US" sz="1400" b="1" dirty="0" err="1">
                <a:solidFill>
                  <a:srgbClr val="000000"/>
                </a:solidFill>
              </a:rPr>
              <a:t>масштабирование</a:t>
            </a:r>
            <a:r>
              <a:rPr lang="en-US" sz="1400" b="1" dirty="0">
                <a:solidFill>
                  <a:srgbClr val="000000"/>
                </a:solidFill>
              </a:rPr>
              <a:t>: </a:t>
            </a:r>
            <a:endParaRPr lang="ru-RU" sz="1400" b="1" dirty="0">
              <a:solidFill>
                <a:srgbClr val="000000"/>
              </a:solidFill>
            </a:endParaRPr>
          </a:p>
          <a:p>
            <a:pPr marL="285750" indent="-285750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Stateful компоненты: PostgreSQL (RAM, CPU, SSD), Redis (RAM)</a:t>
            </a:r>
          </a:p>
          <a:p>
            <a:pPr marL="285750" indent="-285750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Критические сервисы: где горизонтальное масштабирование невозможно или неэффективно</a:t>
            </a:r>
          </a:p>
          <a:p>
            <a:pPr marL="742950" lvl="2" indent="-285750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Монолит: преимущественно вертикальное масштабирование</a:t>
            </a:r>
          </a:p>
          <a:p>
            <a:pPr marL="742950" lvl="2" indent="-285750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Микросервисы: комбинированный подход</a:t>
            </a:r>
          </a:p>
          <a:p>
            <a:pPr marL="0" indent="0" algn="l">
              <a:lnSpc>
                <a:spcPts val="2000"/>
              </a:lnSpc>
              <a:buNone/>
            </a:pPr>
            <a:endParaRPr lang="en-US" sz="1400" dirty="0">
              <a:solidFill>
                <a:srgbClr val="000000"/>
              </a:solidFill>
            </a:endParaRPr>
          </a:p>
          <a:p>
            <a:pPr marL="0" indent="0" algn="l">
              <a:lnSpc>
                <a:spcPts val="2000"/>
              </a:lnSpc>
              <a:buNone/>
            </a:pPr>
            <a:r>
              <a:rPr lang="ru-RU" sz="1400" b="1" dirty="0">
                <a:solidFill>
                  <a:srgbClr val="000000"/>
                </a:solidFill>
              </a:rPr>
              <a:t>Масштабирование базы данных</a:t>
            </a:r>
          </a:p>
          <a:p>
            <a:pPr marL="285750" indent="-285750" algn="l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PostgreSQL </a:t>
            </a:r>
            <a:r>
              <a:rPr lang="ru-RU" sz="1400" dirty="0">
                <a:solidFill>
                  <a:srgbClr val="000000"/>
                </a:solidFill>
              </a:rPr>
              <a:t>оптимизации: </a:t>
            </a:r>
            <a:r>
              <a:rPr lang="en-US" sz="1400" dirty="0">
                <a:solidFill>
                  <a:srgbClr val="000000"/>
                </a:solidFill>
              </a:rPr>
              <a:t>read replicas, </a:t>
            </a:r>
            <a:r>
              <a:rPr lang="ru-RU" sz="1400" dirty="0">
                <a:solidFill>
                  <a:srgbClr val="000000"/>
                </a:solidFill>
              </a:rPr>
              <a:t>индексы, шардирование</a:t>
            </a:r>
          </a:p>
          <a:p>
            <a:pPr marL="285750" indent="-285750" algn="l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Connection pooling: </a:t>
            </a:r>
            <a:r>
              <a:rPr lang="en-US" sz="1400" dirty="0" err="1">
                <a:solidFill>
                  <a:srgbClr val="000000"/>
                </a:solidFill>
              </a:rPr>
              <a:t>PgBouncer</a:t>
            </a:r>
            <a:r>
              <a:rPr lang="en-US" sz="1400" dirty="0">
                <a:solidFill>
                  <a:srgbClr val="000000"/>
                </a:solidFill>
              </a:rPr>
              <a:t>, </a:t>
            </a:r>
            <a:r>
              <a:rPr lang="ru-RU" sz="1400" dirty="0">
                <a:solidFill>
                  <a:srgbClr val="000000"/>
                </a:solidFill>
              </a:rPr>
              <a:t>управление соединениями</a:t>
            </a:r>
          </a:p>
          <a:p>
            <a:pPr marL="285750" indent="-285750" algn="l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Гибридный подход: вертикальное для записи + горизонтальное для</a:t>
            </a:r>
            <a:r>
              <a:rPr lang="en-US" sz="1400" dirty="0">
                <a:solidFill>
                  <a:srgbClr val="000000"/>
                </a:solidFill>
              </a:rPr>
              <a:t> </a:t>
            </a:r>
            <a:r>
              <a:rPr lang="ru-RU" sz="1400" dirty="0">
                <a:solidFill>
                  <a:srgbClr val="000000"/>
                </a:solidFill>
              </a:rPr>
              <a:t>чтения</a:t>
            </a:r>
            <a:endParaRPr lang="en-US" sz="1400" dirty="0">
              <a:solidFill>
                <a:srgbClr val="000000"/>
              </a:solidFill>
            </a:endParaRPr>
          </a:p>
        </p:txBody>
      </p:sp>
      <p:sp>
        <p:nvSpPr>
          <p:cNvPr id="5" name="Text 2"/>
          <p:cNvSpPr/>
          <p:nvPr/>
        </p:nvSpPr>
        <p:spPr>
          <a:xfrm>
            <a:off x="6858000" y="1662545"/>
            <a:ext cx="4156364" cy="11804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endParaRPr lang="en-US" sz="1400" dirty="0"/>
          </a:p>
        </p:txBody>
      </p:sp>
      <p:pic>
        <p:nvPicPr>
          <p:cNvPr id="6" name="Picture 5" descr="Several different types of servers&#10;&#10;AI-generated content may be incorrect.">
            <a:extLst>
              <a:ext uri="{FF2B5EF4-FFF2-40B4-BE49-F238E27FC236}">
                <a16:creationId xmlns:a16="http://schemas.microsoft.com/office/drawing/2014/main" id="{87539BF0-CC22-7773-780E-7B6BCE6934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1046" y="2296528"/>
            <a:ext cx="5106954" cy="331620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210870" y="3038302"/>
            <a:ext cx="4395902" cy="7813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00000"/>
                </a:solidFill>
              </a:rPr>
              <a:t>Спасибо за внимание!</a:t>
            </a:r>
            <a:endParaRPr lang="en-US" sz="3200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177</TotalTime>
  <Words>736</Words>
  <Application>Microsoft Office PowerPoint</Application>
  <PresentationFormat>Widescreen</PresentationFormat>
  <Paragraphs>145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Corbel</vt:lpstr>
      <vt:lpstr>Courier New</vt:lpstr>
      <vt:lpstr>Wingdings</vt:lpstr>
      <vt:lpstr>Parallax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Sam Gorokhov</dc:creator>
  <cp:lastModifiedBy>Sam Gorokhov</cp:lastModifiedBy>
  <cp:revision>14</cp:revision>
  <dcterms:created xsi:type="dcterms:W3CDTF">2025-11-05T10:42:09Z</dcterms:created>
  <dcterms:modified xsi:type="dcterms:W3CDTF">2025-11-12T10:44:02Z</dcterms:modified>
</cp:coreProperties>
</file>